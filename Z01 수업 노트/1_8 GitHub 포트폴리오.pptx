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337" r:id="rId3"/>
    <p:sldId id="338" r:id="rId4"/>
    <p:sldId id="339" r:id="rId5"/>
    <p:sldId id="340" r:id="rId6"/>
    <p:sldId id="341" r:id="rId7"/>
    <p:sldId id="343" r:id="rId8"/>
    <p:sldId id="34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7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67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95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35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75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41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5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4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6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25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30782-C3B9-406C-89A7-9569F8402BCE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11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rex99/hello%20repo.git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git@github.com:younhosun/hsyoun_git.git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git@github.com:younhosun/hsyoun_git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01991"/>
              </p:ext>
            </p:extLst>
          </p:nvPr>
        </p:nvGraphicFramePr>
        <p:xfrm>
          <a:off x="237478" y="403654"/>
          <a:ext cx="11702988" cy="975360"/>
        </p:xfrm>
        <a:graphic>
          <a:graphicData uri="http://schemas.openxmlformats.org/drawingml/2006/table">
            <a:tbl>
              <a:tblPr/>
              <a:tblGrid>
                <a:gridCol w="345563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824735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1.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버전관리가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무엇인가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최종 산출물까지 </a:t>
                      </a:r>
                      <a:r>
                        <a:rPr lang="ko-KR" altLang="en-US" sz="1000" dirty="0" err="1" smtClean="0"/>
                        <a:t>이를까지의</a:t>
                      </a:r>
                      <a:r>
                        <a:rPr lang="ko-KR" altLang="en-US" sz="1000" dirty="0" smtClean="0"/>
                        <a:t> 산출물들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과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기본 개념 및 그 차이점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버전 관리 기능의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그리고 그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ko-KR" altLang="en-US" sz="1000" dirty="0" smtClean="0"/>
                        <a:t>의 기능을 관리하는 기능의 </a:t>
                      </a:r>
                      <a:r>
                        <a:rPr lang="en-US" altLang="ko-KR" sz="1000" dirty="0" err="1" smtClean="0"/>
                        <a:t>github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3.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계정을 생성 및 기본 환경 설정할 수 있다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17700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1</a:t>
            </a:r>
            <a:r>
              <a:rPr lang="ko-KR" altLang="en-US" sz="1100" b="1" dirty="0" smtClean="0"/>
              <a:t>주차 포트폴리오 개요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9063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319134"/>
              </p:ext>
            </p:extLst>
          </p:nvPr>
        </p:nvGraphicFramePr>
        <p:xfrm>
          <a:off x="237478" y="403654"/>
          <a:ext cx="11702988" cy="4526280"/>
        </p:xfrm>
        <a:graphic>
          <a:graphicData uri="http://schemas.openxmlformats.org/drawingml/2006/table">
            <a:tbl>
              <a:tblPr/>
              <a:tblGrid>
                <a:gridCol w="531994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8304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버전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version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사용자 이름 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name ”</a:t>
                      </a:r>
                      <a:r>
                        <a:rPr lang="en-US" altLang="ko-KR" sz="1000" dirty="0" err="1" smtClean="0"/>
                        <a:t>youn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hosoo</a:t>
                      </a:r>
                      <a:r>
                        <a:rPr lang="en-US" altLang="ko-KR" sz="1000" baseline="0" dirty="0" smtClean="0"/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사용자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e-mail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email</a:t>
                      </a:r>
                      <a:r>
                        <a:rPr lang="en-US" altLang="ko-KR" sz="1000" baseline="0" dirty="0" smtClean="0"/>
                        <a:t> “hsy7401@naver.com”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 내용을 확인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점검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–list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폴더를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d:\my_repo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Mkdir</a:t>
                      </a:r>
                      <a:r>
                        <a:rPr lang="en-US" altLang="ko-KR" sz="100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init</a:t>
                      </a:r>
                      <a:r>
                        <a:rPr lang="en-US" altLang="ko-KR" sz="1000" dirty="0" smtClean="0"/>
                        <a:t> d:\my_repo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staging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저장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commit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status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처음으로 작성된 파일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이란 메시지를 포함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</a:t>
                      </a:r>
                      <a:r>
                        <a:rPr lang="en-US" altLang="ko-KR" sz="1000" baseline="0" dirty="0" smtClean="0"/>
                        <a:t> –m “</a:t>
                      </a:r>
                      <a:r>
                        <a:rPr lang="ko-KR" altLang="en-US" sz="1000" baseline="0" dirty="0" smtClean="0"/>
                        <a:t>처음으로 작성된 파일</a:t>
                      </a:r>
                      <a:r>
                        <a:rPr lang="en-US" altLang="ko-KR" sz="1000" baseline="0" dirty="0" smtClean="0"/>
                        <a:t>＂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변경사항 이력을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 -.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프로젝트 매니저가 출근하면 쭉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훝어보며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상태 점검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–stat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</a:t>
                      </a:r>
                      <a:r>
                        <a:rPr lang="en-US" altLang="ko-KR" sz="1000" dirty="0" err="1" smtClean="0"/>
                        <a:t>oneline</a:t>
                      </a:r>
                      <a:r>
                        <a:rPr lang="en-US" altLang="ko-KR" sz="1000" dirty="0" smtClean="0"/>
                        <a:t> \\ log</a:t>
                      </a:r>
                      <a:r>
                        <a:rPr lang="ko-KR" altLang="en-US" sz="1000" dirty="0" smtClean="0"/>
                        <a:t>의 제목과 </a:t>
                      </a:r>
                      <a:r>
                        <a:rPr lang="ko-KR" altLang="en-US" sz="1000" dirty="0" err="1" smtClean="0"/>
                        <a:t>상태정보만</a:t>
                      </a:r>
                      <a:r>
                        <a:rPr lang="ko-KR" altLang="en-US" sz="1000" dirty="0" smtClean="0"/>
                        <a:t> 확인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946433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실행한 파일을 원복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다른 경우로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최근한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한 파일을 원본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</a:t>
                      </a:r>
                      <a:endParaRPr lang="en-US" altLang="ko-KR" sz="1000" dirty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 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516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log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발생된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메시지를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Fix #3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으로 수정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–amend –m</a:t>
                      </a:r>
                      <a:r>
                        <a:rPr lang="en-US" altLang="ko-KR" sz="1000" baseline="0" dirty="0" smtClean="0"/>
                        <a:t> “Fix #3”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444902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revert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와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다르게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이력이 변경되도록 복원  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reset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2976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2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</a:t>
            </a:r>
            <a:r>
              <a:rPr lang="ko-KR" altLang="en-US" sz="1100" b="1" dirty="0" smtClean="0"/>
              <a:t>의 기본 사용법</a:t>
            </a:r>
            <a:r>
              <a:rPr lang="en-US" altLang="ko-KR" sz="1100" b="1" dirty="0" smtClean="0"/>
              <a:t>(1)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26757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37478" y="403654"/>
          <a:ext cx="11702988" cy="4439920"/>
        </p:xfrm>
        <a:graphic>
          <a:graphicData uri="http://schemas.openxmlformats.org/drawingml/2006/table">
            <a:tbl>
              <a:tblPr/>
              <a:tblGrid>
                <a:gridCol w="531994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8304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# 2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주차 내용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My_repo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디렉토리 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초기화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정의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상태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abc.txt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추가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상태 점검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폴더와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log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정보화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Mkdir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my_repo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init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추가하고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수행하며 로그 메시지는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abc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commit –m “</a:t>
                      </a:r>
                      <a:r>
                        <a:rPr lang="en-US" altLang="ko-KR" sz="1000" baseline="0" dirty="0" err="1" smtClean="0"/>
                        <a:t>abc</a:t>
                      </a:r>
                      <a:r>
                        <a:rPr lang="en-US" altLang="ko-KR" sz="1000" baseline="0" dirty="0" smtClean="0"/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Github</a:t>
                      </a:r>
                      <a:r>
                        <a:rPr lang="ko-KR" altLang="en-US" sz="1000" dirty="0" smtClean="0"/>
                        <a:t>에 </a:t>
                      </a:r>
                      <a:r>
                        <a:rPr lang="en-US" altLang="ko-KR" sz="1000" dirty="0" err="1" smtClean="0"/>
                        <a:t>hello_reop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공간 생성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폴더를 초기화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이란 별칭으로 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와 연결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의 원격 공간은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hello repo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이름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이름을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my_repo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init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remote add origin </a:t>
                      </a:r>
                      <a:r>
                        <a:rPr lang="en-US" altLang="ko-KR" sz="1000" baseline="0" dirty="0" smtClean="0">
                          <a:hlinkClick r:id="rId2"/>
                        </a:rPr>
                        <a:t>https://github.com/trex99/hello </a:t>
                      </a:r>
                      <a:r>
                        <a:rPr lang="en-US" altLang="ko-KR" sz="1000" baseline="0" dirty="0" err="1" smtClean="0">
                          <a:hlinkClick r:id="rId2"/>
                        </a:rPr>
                        <a:t>repo.git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remote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파일을 던진다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main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–u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내용을 댕겨온다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pull origin</a:t>
                      </a:r>
                      <a:r>
                        <a:rPr lang="en-US" altLang="ko-KR" sz="1000" baseline="0" dirty="0" smtClean="0"/>
                        <a:t>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형태로 폴더를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‘first #1’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폴더에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main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이라는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hub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origin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의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branch, main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로컬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내용을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push(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복제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올리기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</a:t>
                      </a:r>
                      <a:r>
                        <a:rPr lang="en-US" altLang="ko-KR" sz="1000" baseline="0" dirty="0" smtClean="0"/>
                        <a:t> ‘first #1’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 –M main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push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3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</a:t>
            </a:r>
            <a:r>
              <a:rPr lang="ko-KR" altLang="en-US" sz="1100" b="1" dirty="0" smtClean="0"/>
              <a:t>의 기본 사용법</a:t>
            </a:r>
            <a:r>
              <a:rPr lang="en-US" altLang="ko-KR" sz="1100" b="1" dirty="0" smtClean="0"/>
              <a:t>(2)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94280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49885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계정으로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repository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를 생성 후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Url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확인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인식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저장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https://github.com/younhosun/hello_repo.git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My_repo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README.md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/>
                        <a:t>Cd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README.md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Local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“create README”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-m "create README"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위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계정으로 생성된 원격지 주소로 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add origin https://github.com/younhosun/hello_repo.git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에러 확인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위의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오류를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피하기 위해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정보를 동기화 진행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origin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main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가져와 현재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브랜치와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병합하는데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두 저장소의 이력이 완전히 달라도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공통 조상이 없어도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강제로 병합해라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pull origin main --allow-unrelated-histories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branch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구조 확인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– main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만 있는 내용을 확인하고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신규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 main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을 생성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branch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저장소의 변경 사항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내용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을 원격 저장소로 업로드하는데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저장소의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이름은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origin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으로 하며 로컬의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main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원격 저장소로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푸시하도록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선언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-u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README,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test.rb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, LICENSE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영역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(staging area)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올리도록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파일들을 저장소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(repository)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"The initial commit of my project" 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프로젝트의 첫 번째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).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README </a:t>
                      </a:r>
                      <a:r>
                        <a:rPr lang="en-US" altLang="ko-KR" sz="1000" dirty="0" err="1" smtClean="0"/>
                        <a:t>test.rb</a:t>
                      </a:r>
                      <a:r>
                        <a:rPr lang="en-US" altLang="ko-KR" sz="1000" dirty="0" smtClean="0"/>
                        <a:t> LICENSE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 ‘The initial commit of my project＇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80099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testing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이라는 새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생성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  <a:r>
                        <a:rPr lang="en-US" altLang="ko-KR" sz="1000" baseline="0" dirty="0" smtClean="0"/>
                        <a:t> testing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07284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방금 만든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testing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작업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이동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checkout testing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3807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test.rb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Vim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에디터로 열어서 수정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Vim </a:t>
                      </a:r>
                      <a:r>
                        <a:rPr lang="en-US" altLang="ko-KR" sz="1000" dirty="0" err="1" smtClean="0"/>
                        <a:t>test.rb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96313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변경된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(tracked)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파일들을 자동으로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add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해서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커밋에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포함하며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메시지를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‘made a change’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–a –m ‘made a</a:t>
                      </a:r>
                      <a:r>
                        <a:rPr lang="en-US" altLang="ko-KR" sz="1000" baseline="0" dirty="0" smtClean="0"/>
                        <a:t> change’</a:t>
                      </a:r>
                      <a:endParaRPr lang="ko-KR" alt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96274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작업 로그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  <a:endParaRPr lang="ko-KR" alt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8232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1739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4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Github</a:t>
            </a:r>
            <a:r>
              <a:rPr lang="en-US" altLang="ko-KR" sz="1100" b="1" dirty="0" smtClean="0"/>
              <a:t> </a:t>
            </a:r>
            <a:r>
              <a:rPr lang="ko-KR" altLang="en-US" sz="1100" b="1" dirty="0" smtClean="0"/>
              <a:t>기본 사용법</a:t>
            </a:r>
            <a:r>
              <a:rPr lang="en-US" altLang="ko-KR" sz="1100" b="1" dirty="0" smtClean="0"/>
              <a:t>(1)</a:t>
            </a:r>
            <a:endParaRPr lang="ko-KR" altLang="en-US" sz="11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46355" y="5499435"/>
          <a:ext cx="11702988" cy="9753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작업</a:t>
                      </a:r>
                      <a:r>
                        <a:rPr lang="ko-KR" altLang="en-US" sz="1000" baseline="0" dirty="0" smtClean="0"/>
                        <a:t> 그룹을 </a:t>
                      </a:r>
                      <a:r>
                        <a:rPr lang="en-US" altLang="ko-KR" sz="1000" baseline="0" dirty="0" smtClean="0"/>
                        <a:t>merge </a:t>
                      </a:r>
                      <a:r>
                        <a:rPr lang="ko-KR" altLang="en-US" sz="1000" baseline="0" dirty="0" smtClean="0"/>
                        <a:t>하는 방법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받을 쪽”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“B”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이동한 후 수행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checkout B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브랜치에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작업했던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변경 사항이 합쳐지도록 선언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merge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저장소에도 반영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B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16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191008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샘플 </a:t>
                      </a:r>
                      <a:r>
                        <a:rPr lang="en-US" altLang="ko-KR" sz="1000" dirty="0" err="1" smtClean="0"/>
                        <a:t>GitHUB</a:t>
                      </a:r>
                      <a:r>
                        <a:rPr lang="ko-KR" altLang="en-US" sz="1000" dirty="0" smtClean="0"/>
                        <a:t>에 기능이 구현돼야 할 내용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1.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 생성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2.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저장소별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설명 추가 또는 설명 없음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3. README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초기화 옵션 선택 또는 유지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4.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리포지토리에 파일 및 폴더 추가 방법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5.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Gitignore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파일과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README.md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파일의 역할과 작성 방법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6.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 및 폴더 구조 관리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7.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리포지토리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설정 변경 방법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설명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언어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라이선스 등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8. Collaborators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를 추가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프로젝트에 다른 사람 초대 방법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9. Branch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 및 관리 방법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1739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5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Github</a:t>
            </a:r>
            <a:r>
              <a:rPr lang="en-US" altLang="ko-KR" sz="1100" b="1" dirty="0" smtClean="0"/>
              <a:t> </a:t>
            </a:r>
            <a:r>
              <a:rPr lang="ko-KR" altLang="en-US" sz="1100" b="1" dirty="0" smtClean="0"/>
              <a:t>기본 사용법</a:t>
            </a:r>
            <a:r>
              <a:rPr lang="en-US" altLang="ko-KR" sz="1100" b="1" dirty="0" smtClean="0"/>
              <a:t>(2)</a:t>
            </a:r>
            <a:endParaRPr lang="ko-KR" altLang="en-US" sz="11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46355" y="2401128"/>
          <a:ext cx="11702988" cy="330708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협업 기능 확인 및 이해 그리고 </a:t>
                      </a:r>
                      <a:r>
                        <a:rPr lang="en-US" altLang="ko-KR" sz="1000" dirty="0" smtClean="0"/>
                        <a:t>issues,</a:t>
                      </a:r>
                      <a:r>
                        <a:rPr lang="en-US" altLang="ko-KR" sz="1000" baseline="0" dirty="0" smtClean="0"/>
                        <a:t> Pull Requests </a:t>
                      </a:r>
                      <a:r>
                        <a:rPr lang="ko-KR" altLang="en-US" sz="1000" baseline="0" dirty="0" smtClean="0"/>
                        <a:t>기능 확인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Issues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는 질의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응답 게시판 기능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이슈는 바로 해결 필요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위험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(risk)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는 발생 가능성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Pull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Requests 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en-US" altLang="ko-KR" sz="10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드라이브로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위치를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hello_repo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(remote)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목록 보기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새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생성이름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로컬 저장소의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목록 보기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d: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hello_repo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 –r 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 </a:t>
                      </a:r>
                      <a:r>
                        <a:rPr lang="en-US" altLang="ko-KR" sz="1000" dirty="0" err="1" smtClean="0"/>
                        <a:t>new_bir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이름을 강제로 변경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이름 변경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목록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이력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 –M </a:t>
                      </a:r>
                      <a:r>
                        <a:rPr lang="en-US" altLang="ko-KR" sz="1000" baseline="0" dirty="0" err="1" smtClean="0"/>
                        <a:t>new_br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0639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새로 만든 또는 수정한 파일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(new_file.txt)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을스테이징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영역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(stage)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추가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파일을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기록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 - "add new file“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이라는 메시지 기록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</a:t>
                      </a:r>
                      <a:r>
                        <a:rPr lang="en-US" altLang="ko-KR" sz="1000" baseline="0" dirty="0" err="1" smtClean="0"/>
                        <a:t>new_file.text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commit –m “add new file”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73362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를원격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저장소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(origin)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동일한 이름의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푸시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업로드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).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즉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저장소에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새로 만듭니다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push origin </a:t>
                      </a:r>
                      <a:r>
                        <a:rPr lang="en-US" altLang="ko-KR" sz="1000" baseline="0" dirty="0" err="1" smtClean="0"/>
                        <a:t>new_br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103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12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3010995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샘플 </a:t>
                      </a:r>
                      <a:r>
                        <a:rPr lang="en-US" altLang="ko-KR" sz="1000" dirty="0" err="1" smtClean="0"/>
                        <a:t>GitHUB</a:t>
                      </a:r>
                      <a:r>
                        <a:rPr lang="ko-KR" altLang="en-US" sz="1000" dirty="0" smtClean="0"/>
                        <a:t>에 기능이 구현돼야 할 내용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 확인하고 삭제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원격소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내용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origin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저장소를 원격 저장소에 저장 선언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–v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</a:t>
                      </a:r>
                      <a:r>
                        <a:rPr lang="en-US" altLang="ko-KR" sz="1000" dirty="0" err="1" smtClean="0"/>
                        <a:t>rm</a:t>
                      </a:r>
                      <a:r>
                        <a:rPr lang="en-US" altLang="ko-KR" sz="1000" dirty="0" smtClean="0"/>
                        <a:t> origin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–v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remote add origin https://github.com/trex99/new_repo.git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679275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Local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readme.md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Local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저장소에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commi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add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readme.md file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메시지 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Push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기능으로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origin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내용을 원격 저장소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main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으로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push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README.md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 “add readme.md file”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–u origin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56760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HEAD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위치를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새로운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branch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HEAD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위치를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로 이동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Head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위치를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새로운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new_br.txt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 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로컬 저장소를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commint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하며 메시지를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“add 3th file”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저장소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origin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내용 업로드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 –M </a:t>
                      </a:r>
                      <a:r>
                        <a:rPr lang="en-US" altLang="ko-KR" sz="1000" dirty="0" err="1" smtClean="0"/>
                        <a:t>new_br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new_br.txt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commit –m “add 3th file”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</a:t>
                      </a:r>
                      <a:r>
                        <a:rPr lang="en-US" altLang="ko-KR" sz="1000" dirty="0" err="1" smtClean="0"/>
                        <a:t>new_br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14338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19639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6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Github</a:t>
            </a:r>
            <a:r>
              <a:rPr lang="en-US" altLang="ko-KR" sz="1100" b="1" dirty="0" smtClean="0"/>
              <a:t> Pages </a:t>
            </a:r>
            <a:r>
              <a:rPr lang="ko-KR" altLang="en-US" sz="1100" b="1" dirty="0" smtClean="0"/>
              <a:t>소개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486039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16865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en-US" altLang="ko-KR" sz="1000" dirty="0" smtClean="0"/>
                        <a:t>Fork </a:t>
                      </a:r>
                      <a:r>
                        <a:rPr lang="ko-KR" altLang="en-US" sz="1000" dirty="0" smtClean="0"/>
                        <a:t>설명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깃허브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사이트에서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opensource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프로젝트 검색 및 내용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#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기여할 대상 오픈 소스 프로젝트의 현행화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최신코드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받아오기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내 작업용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브랜치에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checkout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코드 병합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내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계정의 저장소 최신화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fetch</a:t>
                      </a:r>
                      <a:r>
                        <a:rPr lang="en-US" altLang="ko-KR" sz="1000" baseline="0" dirty="0" smtClean="0"/>
                        <a:t> &lt;</a:t>
                      </a:r>
                      <a:r>
                        <a:rPr lang="ko-KR" altLang="en-US" sz="1000" baseline="0" dirty="0" smtClean="0"/>
                        <a:t>오픈 소스 프로젝트</a:t>
                      </a:r>
                      <a:r>
                        <a:rPr lang="en-US" altLang="ko-KR" sz="1000" baseline="0" dirty="0" smtClean="0"/>
                        <a:t>&gt;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checkout &lt;local repository branch&gt;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merge &lt;</a:t>
                      </a:r>
                      <a:r>
                        <a:rPr lang="ko-KR" altLang="en-US" sz="1000" baseline="0" dirty="0" smtClean="0"/>
                        <a:t>오픈 소스 프로젝트</a:t>
                      </a:r>
                      <a:r>
                        <a:rPr lang="en-US" altLang="ko-KR" sz="1000" baseline="0" dirty="0" smtClean="0"/>
                        <a:t>&gt;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push origin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56760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에서 다른 사람의 저장물로 들어가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fork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메뉴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선택을 통해 내 저장소로 옮김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(fork)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14338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5747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7</a:t>
            </a:r>
            <a:r>
              <a:rPr lang="ko-KR" altLang="en-US" sz="1100" b="1" dirty="0" smtClean="0"/>
              <a:t>주차 </a:t>
            </a:r>
            <a:r>
              <a:rPr lang="ko-KR" altLang="en-US" sz="1100" b="1" dirty="0"/>
              <a:t>오픈 소스 프로젝트 </a:t>
            </a:r>
            <a:r>
              <a:rPr lang="ko-KR" altLang="en-US" sz="1100" b="1" dirty="0" err="1"/>
              <a:t>개요소개</a:t>
            </a:r>
            <a:endParaRPr lang="ko-KR" altLang="en-US" sz="1100" b="1" dirty="0"/>
          </a:p>
        </p:txBody>
      </p:sp>
      <p:sp>
        <p:nvSpPr>
          <p:cNvPr id="4" name="타원 3"/>
          <p:cNvSpPr/>
          <p:nvPr/>
        </p:nvSpPr>
        <p:spPr>
          <a:xfrm>
            <a:off x="6322411" y="4604027"/>
            <a:ext cx="938072" cy="938072"/>
          </a:xfrm>
          <a:prstGeom prst="ellipse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공개된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 소스</a:t>
            </a:r>
          </a:p>
        </p:txBody>
      </p:sp>
      <p:sp>
        <p:nvSpPr>
          <p:cNvPr id="5" name="타원 4"/>
          <p:cNvSpPr/>
          <p:nvPr/>
        </p:nvSpPr>
        <p:spPr>
          <a:xfrm>
            <a:off x="5199761" y="5195734"/>
            <a:ext cx="938072" cy="938072"/>
          </a:xfrm>
          <a:prstGeom prst="ellipse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내 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저장소</a:t>
            </a:r>
          </a:p>
        </p:txBody>
      </p:sp>
      <p:sp>
        <p:nvSpPr>
          <p:cNvPr id="6" name="타원 5"/>
          <p:cNvSpPr/>
          <p:nvPr/>
        </p:nvSpPr>
        <p:spPr>
          <a:xfrm>
            <a:off x="4235056" y="5833762"/>
            <a:ext cx="938072" cy="938072"/>
          </a:xfrm>
          <a:prstGeom prst="ellipse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내 로컬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저장소</a:t>
            </a:r>
            <a:endParaRPr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45197" y="4911157"/>
            <a:ext cx="41937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Fork </a:t>
            </a:r>
            <a:r>
              <a:rPr lang="ko-KR" altLang="en-US" sz="1000" dirty="0" smtClean="0">
                <a:solidFill>
                  <a:srgbClr val="0000FF"/>
                </a:solidFill>
              </a:rPr>
              <a:t>개념 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– </a:t>
            </a:r>
            <a:r>
              <a:rPr lang="ko-KR" altLang="en-US" sz="1000" dirty="0" smtClean="0">
                <a:solidFill>
                  <a:srgbClr val="0000FF"/>
                </a:solidFill>
              </a:rPr>
              <a:t>오픈소스 프로젝트의 복사본을 자신의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github</a:t>
            </a:r>
            <a:r>
              <a:rPr lang="en-US" altLang="ko-KR" sz="1000" dirty="0" smtClean="0">
                <a:solidFill>
                  <a:srgbClr val="0000FF"/>
                </a:solidFill>
              </a:rPr>
              <a:t> </a:t>
            </a:r>
            <a:r>
              <a:rPr lang="ko-KR" altLang="en-US" sz="1000" dirty="0" smtClean="0">
                <a:solidFill>
                  <a:srgbClr val="0000FF"/>
                </a:solidFill>
              </a:rPr>
              <a:t>계정으로 가져오는 것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- </a:t>
            </a:r>
            <a:r>
              <a:rPr lang="ko-KR" altLang="en-US" sz="1000" dirty="0" smtClean="0">
                <a:solidFill>
                  <a:srgbClr val="0000FF"/>
                </a:solidFill>
              </a:rPr>
              <a:t>타인의 </a:t>
            </a:r>
            <a:r>
              <a:rPr lang="en-US" altLang="ko-KR" sz="1000" dirty="0" smtClean="0">
                <a:solidFill>
                  <a:srgbClr val="0000FF"/>
                </a:solidFill>
              </a:rPr>
              <a:t>branch</a:t>
            </a:r>
            <a:r>
              <a:rPr lang="ko-KR" altLang="en-US" sz="1000" dirty="0" smtClean="0">
                <a:solidFill>
                  <a:srgbClr val="0000FF"/>
                </a:solidFill>
              </a:rPr>
              <a:t>는 가져올 필요 없고 주로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 branch </a:t>
            </a:r>
            <a:r>
              <a:rPr lang="ko-KR" altLang="en-US" sz="1000" dirty="0" smtClean="0">
                <a:solidFill>
                  <a:srgbClr val="0000FF"/>
                </a:solidFill>
              </a:rPr>
              <a:t>만 가져옴</a:t>
            </a:r>
          </a:p>
        </p:txBody>
      </p:sp>
      <p:cxnSp>
        <p:nvCxnSpPr>
          <p:cNvPr id="9" name="꺾인 연결선 8"/>
          <p:cNvCxnSpPr>
            <a:stCxn id="4" idx="2"/>
            <a:endCxn id="5" idx="0"/>
          </p:cNvCxnSpPr>
          <p:nvPr/>
        </p:nvCxnSpPr>
        <p:spPr>
          <a:xfrm rot="10800000" flipV="1">
            <a:off x="5668797" y="5073062"/>
            <a:ext cx="653614" cy="1226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5" idx="2"/>
            <a:endCxn id="6" idx="0"/>
          </p:cNvCxnSpPr>
          <p:nvPr/>
        </p:nvCxnSpPr>
        <p:spPr>
          <a:xfrm rot="10800000" flipV="1">
            <a:off x="4704093" y="5664770"/>
            <a:ext cx="495669" cy="1689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5" idx="6"/>
            <a:endCxn id="4" idx="4"/>
          </p:cNvCxnSpPr>
          <p:nvPr/>
        </p:nvCxnSpPr>
        <p:spPr>
          <a:xfrm flipV="1">
            <a:off x="6137833" y="5542099"/>
            <a:ext cx="653614" cy="1226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6" idx="6"/>
            <a:endCxn id="5" idx="4"/>
          </p:cNvCxnSpPr>
          <p:nvPr/>
        </p:nvCxnSpPr>
        <p:spPr>
          <a:xfrm flipV="1">
            <a:off x="5173128" y="6133806"/>
            <a:ext cx="495669" cy="1689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45197" y="5542099"/>
            <a:ext cx="460414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clone</a:t>
            </a:r>
            <a:r>
              <a:rPr lang="ko-KR" altLang="en-US" sz="1000" dirty="0" smtClean="0">
                <a:solidFill>
                  <a:srgbClr val="0000FF"/>
                </a:solidFill>
              </a:rPr>
              <a:t>개념 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– </a:t>
            </a:r>
            <a:r>
              <a:rPr lang="ko-KR" altLang="en-US" sz="1000" dirty="0" smtClean="0">
                <a:solidFill>
                  <a:srgbClr val="0000FF"/>
                </a:solidFill>
              </a:rPr>
              <a:t>원격 저장소의 소스를 자신의 로컬 컴퓨터로 가져오는 것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- </a:t>
            </a:r>
            <a:r>
              <a:rPr lang="ko-KR" altLang="en-US" sz="1000" dirty="0" smtClean="0">
                <a:solidFill>
                  <a:srgbClr val="0000FF"/>
                </a:solidFill>
              </a:rPr>
              <a:t>그럼 </a:t>
            </a:r>
            <a:r>
              <a:rPr lang="en-US" altLang="ko-KR" sz="1000" dirty="0" smtClean="0">
                <a:solidFill>
                  <a:srgbClr val="0000FF"/>
                </a:solidFill>
              </a:rPr>
              <a:t>fork</a:t>
            </a:r>
            <a:r>
              <a:rPr lang="ko-KR" altLang="en-US" sz="1000" dirty="0" smtClean="0">
                <a:solidFill>
                  <a:srgbClr val="0000FF"/>
                </a:solidFill>
              </a:rPr>
              <a:t>로 타인의 저장소 내용을 가져오고 그 다음 </a:t>
            </a:r>
            <a:r>
              <a:rPr lang="en-US" altLang="ko-KR" sz="1000" dirty="0" smtClean="0">
                <a:solidFill>
                  <a:srgbClr val="0000FF"/>
                </a:solidFill>
              </a:rPr>
              <a:t>clone</a:t>
            </a:r>
            <a:r>
              <a:rPr lang="ko-KR" altLang="en-US" sz="1000" dirty="0" smtClean="0">
                <a:solidFill>
                  <a:srgbClr val="0000FF"/>
                </a:solidFill>
              </a:rPr>
              <a:t>으로 로컬로 저장</a:t>
            </a: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/>
          </p:nvPr>
        </p:nvGraphicFramePr>
        <p:xfrm>
          <a:off x="246355" y="2191023"/>
          <a:ext cx="11702988" cy="9753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en-US" altLang="ko-KR" sz="1000" dirty="0" smtClean="0"/>
                        <a:t>Clone </a:t>
                      </a:r>
                      <a:r>
                        <a:rPr lang="ko-KR" altLang="en-US" sz="1000" dirty="0" smtClean="0"/>
                        <a:t>설명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cmd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내 로컬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디렉토리로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레포지토리의 내용을 로컬로 복사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링크는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내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에서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clone https://github.com/leeetrex/josep_repo.git \\ </a:t>
                      </a:r>
                      <a:r>
                        <a:rPr lang="ko-KR" altLang="en-US" sz="1000" baseline="0" dirty="0" smtClean="0"/>
                        <a:t>해당 </a:t>
                      </a:r>
                      <a:r>
                        <a:rPr lang="en-US" altLang="ko-KR" sz="1000" baseline="0" dirty="0" err="1" smtClean="0"/>
                        <a:t>url</a:t>
                      </a:r>
                      <a:r>
                        <a:rPr lang="ko-KR" altLang="en-US" sz="1000" baseline="0" dirty="0" smtClean="0"/>
                        <a:t>은 샘플</a:t>
                      </a:r>
                      <a:r>
                        <a:rPr lang="en-US" altLang="ko-KR" sz="1000" baseline="0" dirty="0" smtClean="0"/>
                        <a:t>.. </a:t>
                      </a:r>
                      <a:r>
                        <a:rPr lang="ko-KR" altLang="en-US" sz="1000" baseline="0" dirty="0" err="1" smtClean="0"/>
                        <a:t>강의자</a:t>
                      </a:r>
                      <a:r>
                        <a:rPr lang="ko-KR" altLang="en-US" sz="1000" baseline="0" dirty="0" smtClean="0"/>
                        <a:t> 기준 링크</a:t>
                      </a:r>
                      <a:r>
                        <a:rPr lang="en-US" altLang="ko-KR" sz="1000" baseline="0" dirty="0" smtClean="0"/>
                        <a:t>, </a:t>
                      </a:r>
                      <a:r>
                        <a:rPr lang="ko-KR" altLang="en-US" sz="1000" baseline="0" dirty="0" smtClean="0"/>
                        <a:t>내 링크는 따로</a:t>
                      </a:r>
                      <a:endParaRPr lang="en-US" altLang="ko-KR" sz="10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56760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저장소 내용이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내 로컬 폴더로 복사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다운로드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된 내용을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dir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143388"/>
                  </a:ext>
                </a:extLst>
              </a:tr>
            </a:tbl>
          </a:graphicData>
        </a:graphic>
      </p:graphicFrame>
      <p:sp>
        <p:nvSpPr>
          <p:cNvPr id="54" name="모서리가 둥근 직사각형 53"/>
          <p:cNvSpPr/>
          <p:nvPr/>
        </p:nvSpPr>
        <p:spPr>
          <a:xfrm>
            <a:off x="9127575" y="3435658"/>
            <a:ext cx="2184127" cy="621437"/>
          </a:xfrm>
          <a:prstGeom prst="roundRect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smtClean="0">
              <a:solidFill>
                <a:schemeClr val="tx1"/>
              </a:solidFill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951069" y="3435658"/>
            <a:ext cx="2184127" cy="621437"/>
          </a:xfrm>
          <a:prstGeom prst="roundRect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smtClean="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683171" y="3435658"/>
            <a:ext cx="2184127" cy="621437"/>
          </a:xfrm>
          <a:prstGeom prst="roundRect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smtClean="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418777" y="3629955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000" u="sng" dirty="0" smtClean="0">
                <a:solidFill>
                  <a:srgbClr val="0000FF"/>
                </a:solidFill>
              </a:rPr>
              <a:t>타인의 오픈 소스 저장소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9748" y="3629955"/>
            <a:ext cx="13067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000" u="sng" dirty="0" smtClean="0">
                <a:solidFill>
                  <a:srgbClr val="0000FF"/>
                </a:solidFill>
              </a:rPr>
              <a:t>나의 </a:t>
            </a:r>
            <a:r>
              <a:rPr lang="en-US" altLang="ko-KR" sz="1000" u="sng" dirty="0" err="1" smtClean="0">
                <a:solidFill>
                  <a:srgbClr val="0000FF"/>
                </a:solidFill>
              </a:rPr>
              <a:t>Github</a:t>
            </a:r>
            <a:r>
              <a:rPr lang="en-US" altLang="ko-KR" sz="1000" u="sng" dirty="0" smtClean="0">
                <a:solidFill>
                  <a:srgbClr val="0000FF"/>
                </a:solidFill>
              </a:rPr>
              <a:t> </a:t>
            </a:r>
            <a:r>
              <a:rPr lang="ko-KR" altLang="en-US" sz="1000" u="sng" dirty="0" smtClean="0">
                <a:solidFill>
                  <a:srgbClr val="0000FF"/>
                </a:solidFill>
              </a:rPr>
              <a:t>저장소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0431" y="3629955"/>
            <a:ext cx="11721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000" u="sng" dirty="0" smtClean="0">
                <a:solidFill>
                  <a:srgbClr val="0000FF"/>
                </a:solidFill>
              </a:rPr>
              <a:t>나의 로컬 저장소</a:t>
            </a: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7190168" y="3841136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3004705" y="3876176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835359" y="3360240"/>
            <a:ext cx="509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Fork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 flipH="1">
            <a:off x="3044916" y="3629955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 flipH="1">
            <a:off x="7218596" y="3619761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618319" y="3847335"/>
            <a:ext cx="943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Pull Request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493084" y="3922752"/>
            <a:ext cx="903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Push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68105" y="3337159"/>
            <a:ext cx="1753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Pull(</a:t>
            </a:r>
            <a:r>
              <a:rPr lang="ko-KR" altLang="en-US" sz="1000" dirty="0" smtClean="0">
                <a:solidFill>
                  <a:srgbClr val="0000FF"/>
                </a:solidFill>
              </a:rPr>
              <a:t>변경 분</a:t>
            </a:r>
            <a:r>
              <a:rPr lang="en-US" altLang="ko-KR" sz="1000" dirty="0" smtClean="0">
                <a:solidFill>
                  <a:srgbClr val="0000FF"/>
                </a:solidFill>
              </a:rPr>
              <a:t>) / Clone(Full)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3171" y="4070473"/>
            <a:ext cx="300106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올릴 파일을 확인</a:t>
            </a:r>
            <a:r>
              <a:rPr lang="en-US" altLang="ko-KR" sz="1000" dirty="0" smtClean="0">
                <a:solidFill>
                  <a:srgbClr val="0000FF"/>
                </a:solidFill>
              </a:rPr>
              <a:t>: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add .</a:t>
            </a:r>
            <a:endParaRPr lang="en-US" altLang="ko-KR" sz="1000" dirty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올릴 파일 이력 </a:t>
            </a:r>
            <a:r>
              <a:rPr lang="en-US" altLang="ko-KR" sz="1000" dirty="0" smtClean="0">
                <a:solidFill>
                  <a:srgbClr val="0000FF"/>
                </a:solidFill>
              </a:rPr>
              <a:t>commit: </a:t>
            </a: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  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commit –m “xxx commit”</a:t>
            </a: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연결고리 생성</a:t>
            </a:r>
            <a:r>
              <a:rPr lang="en-US" altLang="ko-KR" sz="1000" dirty="0" smtClean="0">
                <a:solidFill>
                  <a:srgbClr val="0000FF"/>
                </a:solidFill>
              </a:rPr>
              <a:t>:</a:t>
            </a: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  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remote </a:t>
            </a:r>
            <a:r>
              <a:rPr lang="en-US" altLang="ko-KR" sz="1000" dirty="0">
                <a:solidFill>
                  <a:srgbClr val="0000FF"/>
                </a:solidFill>
              </a:rPr>
              <a:t>add origin </a:t>
            </a:r>
            <a:r>
              <a:rPr lang="en-US" altLang="ko-KR" sz="1000" dirty="0" err="1" smtClean="0">
                <a:solidFill>
                  <a:srgbClr val="0000FF"/>
                </a:solidFill>
                <a:hlinkClick r:id="rId2"/>
              </a:rPr>
              <a:t>git@github.com:younhosun</a:t>
            </a:r>
            <a:r>
              <a:rPr lang="en-US" altLang="ko-KR" sz="1000" dirty="0" smtClean="0">
                <a:solidFill>
                  <a:srgbClr val="0000FF"/>
                </a:solidFill>
                <a:hlinkClick r:id="rId2"/>
              </a:rPr>
              <a:t>/</a:t>
            </a:r>
            <a:r>
              <a:rPr lang="en-US" altLang="ko-KR" sz="1000" dirty="0" err="1" smtClean="0">
                <a:solidFill>
                  <a:srgbClr val="0000FF"/>
                </a:solidFill>
                <a:hlinkClick r:id="rId2"/>
              </a:rPr>
              <a:t>hsyoun_git.git</a:t>
            </a:r>
            <a:endParaRPr lang="en-US" altLang="ko-KR" sz="1000" dirty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※ </a:t>
            </a:r>
            <a:r>
              <a:rPr lang="ko-KR" altLang="en-US" sz="1000" dirty="0" smtClean="0">
                <a:solidFill>
                  <a:srgbClr val="0000FF"/>
                </a:solidFill>
              </a:rPr>
              <a:t>이미 입력</a:t>
            </a:r>
            <a:r>
              <a:rPr lang="en-US" altLang="ko-KR" sz="1000" dirty="0" smtClean="0">
                <a:solidFill>
                  <a:srgbClr val="0000FF"/>
                </a:solidFill>
              </a:rPr>
              <a:t>, remote</a:t>
            </a:r>
            <a:r>
              <a:rPr lang="ko-KR" altLang="en-US" sz="1000" dirty="0" smtClean="0">
                <a:solidFill>
                  <a:srgbClr val="0000FF"/>
                </a:solidFill>
              </a:rPr>
              <a:t>가 생성된 상태라면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</a:rPr>
              <a:t>  </a:t>
            </a:r>
            <a:r>
              <a:rPr lang="ko-KR" altLang="en-US" sz="1000" dirty="0" smtClean="0">
                <a:solidFill>
                  <a:srgbClr val="0000FF"/>
                </a:solidFill>
              </a:rPr>
              <a:t>에러 메시지 발생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연결 고리 확인</a:t>
            </a:r>
            <a:r>
              <a:rPr lang="en-US" altLang="ko-KR" sz="1000" dirty="0" smtClean="0">
                <a:solidFill>
                  <a:srgbClr val="0000FF"/>
                </a:solidFill>
              </a:rPr>
              <a:t>: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remote -v</a:t>
            </a: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원격 저장소 이동</a:t>
            </a:r>
            <a:r>
              <a:rPr lang="en-US" altLang="ko-KR" sz="1000" dirty="0" smtClean="0">
                <a:solidFill>
                  <a:srgbClr val="0000FF"/>
                </a:solidFill>
              </a:rPr>
              <a:t>:</a:t>
            </a: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</a:rPr>
              <a:t>  </a:t>
            </a:r>
            <a:r>
              <a:rPr lang="en-US" altLang="ko-KR" sz="1000" dirty="0" smtClean="0">
                <a:solidFill>
                  <a:srgbClr val="0000FF"/>
                </a:solidFill>
              </a:rPr>
              <a:t>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</a:t>
            </a:r>
            <a:r>
              <a:rPr lang="en-US" altLang="ko-KR" sz="1000" dirty="0">
                <a:solidFill>
                  <a:srgbClr val="0000FF"/>
                </a:solidFill>
              </a:rPr>
              <a:t>push origin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</a:t>
            </a:r>
          </a:p>
          <a:p>
            <a:pPr marL="108000" lvl="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로컬 데이터 유실 시 데이터 복구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 lvl="0"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</a:rPr>
              <a:t> 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clone –b master</a:t>
            </a:r>
          </a:p>
          <a:p>
            <a:pPr>
              <a:spcBef>
                <a:spcPts val="300"/>
              </a:spcBef>
            </a:pPr>
            <a:r>
              <a:rPr lang="en-US" altLang="ko-KR" sz="1000" dirty="0" err="1">
                <a:solidFill>
                  <a:srgbClr val="0000FF"/>
                </a:solidFill>
              </a:rPr>
              <a:t>git@github.com:younhosun</a:t>
            </a:r>
            <a:r>
              <a:rPr lang="en-US" altLang="ko-KR" sz="1000" dirty="0">
                <a:solidFill>
                  <a:srgbClr val="0000FF"/>
                </a:solidFill>
              </a:rPr>
              <a:t>/</a:t>
            </a:r>
            <a:r>
              <a:rPr lang="en-US" altLang="ko-KR" sz="1000" dirty="0" err="1">
                <a:solidFill>
                  <a:srgbClr val="0000FF"/>
                </a:solidFill>
              </a:rPr>
              <a:t>hsyoun_git.git</a:t>
            </a:r>
            <a:endParaRPr lang="en-US" altLang="ko-KR" sz="1000" dirty="0" smtClean="0">
              <a:solidFill>
                <a:srgbClr val="0000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10014" y="4215548"/>
            <a:ext cx="3938856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0000FF"/>
                </a:solidFill>
              </a:rPr>
              <a:t>git</a:t>
            </a:r>
            <a:r>
              <a:rPr lang="en-US" altLang="ko-KR" sz="1000" dirty="0">
                <a:solidFill>
                  <a:srgbClr val="0000FF"/>
                </a:solidFill>
              </a:rPr>
              <a:t> checkout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 –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github</a:t>
            </a:r>
            <a:r>
              <a:rPr lang="en-US" altLang="ko-KR" sz="1000" dirty="0" smtClean="0">
                <a:solidFill>
                  <a:srgbClr val="0000FF"/>
                </a:solidFill>
              </a:rPr>
              <a:t> </a:t>
            </a:r>
            <a:r>
              <a:rPr lang="ko-KR" altLang="en-US" sz="1000" dirty="0" smtClean="0">
                <a:solidFill>
                  <a:srgbClr val="0000FF"/>
                </a:solidFill>
              </a:rPr>
              <a:t>원격 연결 </a:t>
            </a:r>
            <a:r>
              <a:rPr lang="ko-KR" altLang="en-US" sz="1000" dirty="0" err="1" smtClean="0">
                <a:solidFill>
                  <a:srgbClr val="0000FF"/>
                </a:solidFill>
              </a:rPr>
              <a:t>브랜치를</a:t>
            </a:r>
            <a:r>
              <a:rPr lang="ko-KR" altLang="en-US" sz="1000" dirty="0" smtClean="0">
                <a:solidFill>
                  <a:srgbClr val="0000FF"/>
                </a:solidFill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</a:t>
            </a:r>
            <a:r>
              <a:rPr lang="ko-KR" altLang="en-US" sz="1000" dirty="0" smtClean="0">
                <a:solidFill>
                  <a:srgbClr val="0000FF"/>
                </a:solidFill>
              </a:rPr>
              <a:t>으로 설정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    -. </a:t>
            </a:r>
            <a:r>
              <a:rPr lang="ko-KR" altLang="en-US" sz="1000" dirty="0" smtClean="0">
                <a:solidFill>
                  <a:srgbClr val="0000FF"/>
                </a:solidFill>
              </a:rPr>
              <a:t>앞으로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</a:t>
            </a:r>
            <a:r>
              <a:rPr lang="ko-KR" altLang="en-US" sz="1000" dirty="0" smtClean="0">
                <a:solidFill>
                  <a:srgbClr val="0000FF"/>
                </a:solidFill>
              </a:rPr>
              <a:t>으로 업데이트 및 다운로드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err="1" smtClean="0">
                <a:solidFill>
                  <a:srgbClr val="0000FF"/>
                </a:solidFill>
              </a:rPr>
              <a:t>ㅇ</a:t>
            </a:r>
            <a:endParaRPr lang="en-US" altLang="ko-KR" sz="1000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30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42043"/>
            <a:ext cx="25747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7</a:t>
            </a:r>
            <a:r>
              <a:rPr lang="ko-KR" altLang="en-US" sz="1100" b="1" dirty="0" smtClean="0"/>
              <a:t>주차 </a:t>
            </a:r>
            <a:r>
              <a:rPr lang="ko-KR" altLang="en-US" sz="1100" b="1" dirty="0"/>
              <a:t>오픈 소스 프로젝트 </a:t>
            </a:r>
            <a:r>
              <a:rPr lang="ko-KR" altLang="en-US" sz="1100" b="1" dirty="0" err="1"/>
              <a:t>개요소개</a:t>
            </a:r>
            <a:endParaRPr lang="ko-KR" altLang="en-US" sz="1100" b="1" dirty="0"/>
          </a:p>
        </p:txBody>
      </p:sp>
      <p:sp>
        <p:nvSpPr>
          <p:cNvPr id="54" name="모서리가 둥근 직사각형 53"/>
          <p:cNvSpPr/>
          <p:nvPr/>
        </p:nvSpPr>
        <p:spPr>
          <a:xfrm>
            <a:off x="8728080" y="577048"/>
            <a:ext cx="2184127" cy="621437"/>
          </a:xfrm>
          <a:prstGeom prst="roundRect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smtClean="0">
              <a:solidFill>
                <a:schemeClr val="tx1"/>
              </a:solidFill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551574" y="577048"/>
            <a:ext cx="2184127" cy="621437"/>
          </a:xfrm>
          <a:prstGeom prst="roundRect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smtClean="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283676" y="577048"/>
            <a:ext cx="2184127" cy="621437"/>
          </a:xfrm>
          <a:prstGeom prst="roundRect">
            <a:avLst/>
          </a:prstGeom>
          <a:noFill/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smtClean="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19282" y="771345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000" u="sng" dirty="0" smtClean="0">
                <a:solidFill>
                  <a:srgbClr val="0000FF"/>
                </a:solidFill>
              </a:rPr>
              <a:t>타인의 오픈 소스 저장소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90253" y="771345"/>
            <a:ext cx="13067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000" u="sng" dirty="0" smtClean="0">
                <a:solidFill>
                  <a:srgbClr val="0000FF"/>
                </a:solidFill>
              </a:rPr>
              <a:t>나의 </a:t>
            </a:r>
            <a:r>
              <a:rPr lang="en-US" altLang="ko-KR" sz="1000" u="sng" dirty="0" err="1" smtClean="0">
                <a:solidFill>
                  <a:srgbClr val="0000FF"/>
                </a:solidFill>
              </a:rPr>
              <a:t>Github</a:t>
            </a:r>
            <a:r>
              <a:rPr lang="en-US" altLang="ko-KR" sz="1000" u="sng" dirty="0" smtClean="0">
                <a:solidFill>
                  <a:srgbClr val="0000FF"/>
                </a:solidFill>
              </a:rPr>
              <a:t> </a:t>
            </a:r>
            <a:r>
              <a:rPr lang="ko-KR" altLang="en-US" sz="1000" u="sng" dirty="0" smtClean="0">
                <a:solidFill>
                  <a:srgbClr val="0000FF"/>
                </a:solidFill>
              </a:rPr>
              <a:t>저장소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0936" y="771345"/>
            <a:ext cx="11721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000" u="sng" dirty="0" smtClean="0">
                <a:solidFill>
                  <a:srgbClr val="0000FF"/>
                </a:solidFill>
              </a:rPr>
              <a:t>나의 로컬 저장소</a:t>
            </a: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6790673" y="982526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2605210" y="1017566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435864" y="501630"/>
            <a:ext cx="509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Fork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 flipH="1">
            <a:off x="2645421" y="771345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 flipH="1">
            <a:off x="6819101" y="761151"/>
            <a:ext cx="18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218824" y="988725"/>
            <a:ext cx="943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Pull Request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093589" y="1064142"/>
            <a:ext cx="903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Push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8610" y="478549"/>
            <a:ext cx="1753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Pull(</a:t>
            </a:r>
            <a:r>
              <a:rPr lang="ko-KR" altLang="en-US" sz="1000" dirty="0" smtClean="0">
                <a:solidFill>
                  <a:srgbClr val="0000FF"/>
                </a:solidFill>
              </a:rPr>
              <a:t>변경 분</a:t>
            </a:r>
            <a:r>
              <a:rPr lang="en-US" altLang="ko-KR" sz="1000" dirty="0" smtClean="0">
                <a:solidFill>
                  <a:srgbClr val="0000FF"/>
                </a:solidFill>
              </a:rPr>
              <a:t>) / Clone(Full)</a:t>
            </a:r>
            <a:endParaRPr lang="ko-KR" altLang="en-US" sz="1000" dirty="0" err="1" smtClean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3676" y="1211863"/>
            <a:ext cx="300106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올릴 파일을 확인</a:t>
            </a:r>
            <a:r>
              <a:rPr lang="en-US" altLang="ko-KR" sz="1000" dirty="0" smtClean="0">
                <a:solidFill>
                  <a:srgbClr val="0000FF"/>
                </a:solidFill>
              </a:rPr>
              <a:t>: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add .</a:t>
            </a:r>
            <a:endParaRPr lang="en-US" altLang="ko-KR" sz="1000" dirty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올릴 파일 이력 </a:t>
            </a:r>
            <a:r>
              <a:rPr lang="en-US" altLang="ko-KR" sz="1000" dirty="0" smtClean="0">
                <a:solidFill>
                  <a:srgbClr val="0000FF"/>
                </a:solidFill>
              </a:rPr>
              <a:t>commit: </a:t>
            </a: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  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commit –m “xxx commit”</a:t>
            </a: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연결고리 생성</a:t>
            </a:r>
            <a:r>
              <a:rPr lang="en-US" altLang="ko-KR" sz="1000" dirty="0" smtClean="0">
                <a:solidFill>
                  <a:srgbClr val="0000FF"/>
                </a:solidFill>
              </a:rPr>
              <a:t>:</a:t>
            </a: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  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remote </a:t>
            </a:r>
            <a:r>
              <a:rPr lang="en-US" altLang="ko-KR" sz="1000" dirty="0">
                <a:solidFill>
                  <a:srgbClr val="0000FF"/>
                </a:solidFill>
              </a:rPr>
              <a:t>add origin </a:t>
            </a:r>
            <a:r>
              <a:rPr lang="en-US" altLang="ko-KR" sz="1000" dirty="0" err="1" smtClean="0">
                <a:solidFill>
                  <a:srgbClr val="0000FF"/>
                </a:solidFill>
                <a:hlinkClick r:id="rId2"/>
              </a:rPr>
              <a:t>git@github.com:younhosun</a:t>
            </a:r>
            <a:r>
              <a:rPr lang="en-US" altLang="ko-KR" sz="1000" dirty="0" smtClean="0">
                <a:solidFill>
                  <a:srgbClr val="0000FF"/>
                </a:solidFill>
                <a:hlinkClick r:id="rId2"/>
              </a:rPr>
              <a:t>/</a:t>
            </a:r>
            <a:r>
              <a:rPr lang="en-US" altLang="ko-KR" sz="1000" dirty="0" err="1" smtClean="0">
                <a:solidFill>
                  <a:srgbClr val="0000FF"/>
                </a:solidFill>
                <a:hlinkClick r:id="rId2"/>
              </a:rPr>
              <a:t>hsyoun_git.git</a:t>
            </a:r>
            <a:endParaRPr lang="en-US" altLang="ko-KR" sz="1000" dirty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※ </a:t>
            </a:r>
            <a:r>
              <a:rPr lang="ko-KR" altLang="en-US" sz="1000" dirty="0" smtClean="0">
                <a:solidFill>
                  <a:srgbClr val="0000FF"/>
                </a:solidFill>
              </a:rPr>
              <a:t>이미 입력</a:t>
            </a:r>
            <a:r>
              <a:rPr lang="en-US" altLang="ko-KR" sz="1000" dirty="0" smtClean="0">
                <a:solidFill>
                  <a:srgbClr val="0000FF"/>
                </a:solidFill>
              </a:rPr>
              <a:t>, remote</a:t>
            </a:r>
            <a:r>
              <a:rPr lang="ko-KR" altLang="en-US" sz="1000" dirty="0" smtClean="0">
                <a:solidFill>
                  <a:srgbClr val="0000FF"/>
                </a:solidFill>
              </a:rPr>
              <a:t>가 생성된 상태라면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</a:rPr>
              <a:t>  </a:t>
            </a:r>
            <a:r>
              <a:rPr lang="ko-KR" altLang="en-US" sz="1000" dirty="0" smtClean="0">
                <a:solidFill>
                  <a:srgbClr val="0000FF"/>
                </a:solidFill>
              </a:rPr>
              <a:t>에러 메시지 발생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연결 고리 확인</a:t>
            </a:r>
            <a:r>
              <a:rPr lang="en-US" altLang="ko-KR" sz="1000" dirty="0" smtClean="0">
                <a:solidFill>
                  <a:srgbClr val="0000FF"/>
                </a:solidFill>
              </a:rPr>
              <a:t>: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remote -v</a:t>
            </a: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원격 저장소 이동</a:t>
            </a:r>
            <a:r>
              <a:rPr lang="en-US" altLang="ko-KR" sz="1000" dirty="0" smtClean="0">
                <a:solidFill>
                  <a:srgbClr val="0000FF"/>
                </a:solidFill>
              </a:rPr>
              <a:t>:</a:t>
            </a: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</a:rPr>
              <a:t>  </a:t>
            </a:r>
            <a:r>
              <a:rPr lang="en-US" altLang="ko-KR" sz="1000" dirty="0" smtClean="0">
                <a:solidFill>
                  <a:srgbClr val="0000FF"/>
                </a:solidFill>
              </a:rPr>
              <a:t>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</a:t>
            </a:r>
            <a:r>
              <a:rPr lang="en-US" altLang="ko-KR" sz="1000" dirty="0">
                <a:solidFill>
                  <a:srgbClr val="0000FF"/>
                </a:solidFill>
              </a:rPr>
              <a:t>push origin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</a:t>
            </a:r>
          </a:p>
          <a:p>
            <a:pPr marL="108000" lvl="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rgbClr val="0000FF"/>
                </a:solidFill>
              </a:rPr>
              <a:t>로컬 데이터 유실 시 데이터 복구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 lvl="0"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</a:rPr>
              <a:t> 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clone –b master</a:t>
            </a:r>
          </a:p>
          <a:p>
            <a:pPr>
              <a:spcBef>
                <a:spcPts val="300"/>
              </a:spcBef>
            </a:pPr>
            <a:r>
              <a:rPr lang="en-US" altLang="ko-KR" sz="1000" dirty="0" err="1">
                <a:solidFill>
                  <a:srgbClr val="0000FF"/>
                </a:solidFill>
              </a:rPr>
              <a:t>git@github.com:younhosun</a:t>
            </a:r>
            <a:r>
              <a:rPr lang="en-US" altLang="ko-KR" sz="1000" dirty="0">
                <a:solidFill>
                  <a:srgbClr val="0000FF"/>
                </a:solidFill>
              </a:rPr>
              <a:t>/</a:t>
            </a:r>
            <a:r>
              <a:rPr lang="en-US" altLang="ko-KR" sz="1000" dirty="0" err="1">
                <a:solidFill>
                  <a:srgbClr val="0000FF"/>
                </a:solidFill>
              </a:rPr>
              <a:t>hsyoun_git.git</a:t>
            </a:r>
            <a:endParaRPr lang="en-US" altLang="ko-KR" sz="1000" dirty="0" smtClean="0">
              <a:solidFill>
                <a:srgbClr val="0000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76232" y="1356938"/>
            <a:ext cx="7285737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0000FF"/>
                </a:solidFill>
              </a:rPr>
              <a:t>git</a:t>
            </a:r>
            <a:r>
              <a:rPr lang="en-US" altLang="ko-KR" sz="1000" dirty="0">
                <a:solidFill>
                  <a:srgbClr val="0000FF"/>
                </a:solidFill>
              </a:rPr>
              <a:t> checkout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 – 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github</a:t>
            </a:r>
            <a:r>
              <a:rPr lang="en-US" altLang="ko-KR" sz="1000" dirty="0" smtClean="0">
                <a:solidFill>
                  <a:srgbClr val="0000FF"/>
                </a:solidFill>
              </a:rPr>
              <a:t> </a:t>
            </a:r>
            <a:r>
              <a:rPr lang="ko-KR" altLang="en-US" sz="1000" dirty="0" smtClean="0">
                <a:solidFill>
                  <a:srgbClr val="0000FF"/>
                </a:solidFill>
              </a:rPr>
              <a:t>원격 연결 </a:t>
            </a:r>
            <a:r>
              <a:rPr lang="ko-KR" altLang="en-US" sz="1000" dirty="0" err="1" smtClean="0">
                <a:solidFill>
                  <a:srgbClr val="0000FF"/>
                </a:solidFill>
              </a:rPr>
              <a:t>브랜치를</a:t>
            </a:r>
            <a:r>
              <a:rPr lang="ko-KR" altLang="en-US" sz="1000" dirty="0" smtClean="0">
                <a:solidFill>
                  <a:srgbClr val="0000FF"/>
                </a:solidFill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</a:t>
            </a:r>
            <a:r>
              <a:rPr lang="ko-KR" altLang="en-US" sz="1000" dirty="0" smtClean="0">
                <a:solidFill>
                  <a:srgbClr val="0000FF"/>
                </a:solidFill>
              </a:rPr>
              <a:t>으로 설정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    -. </a:t>
            </a:r>
            <a:r>
              <a:rPr lang="ko-KR" altLang="en-US" sz="1000" dirty="0" smtClean="0">
                <a:solidFill>
                  <a:srgbClr val="0000FF"/>
                </a:solidFill>
              </a:rPr>
              <a:t>앞으로 </a:t>
            </a:r>
            <a:r>
              <a:rPr lang="en-US" altLang="ko-KR" sz="1000" dirty="0" smtClean="0">
                <a:solidFill>
                  <a:srgbClr val="0000FF"/>
                </a:solidFill>
              </a:rPr>
              <a:t>main</a:t>
            </a:r>
            <a:r>
              <a:rPr lang="ko-KR" altLang="en-US" sz="1000" dirty="0" smtClean="0">
                <a:solidFill>
                  <a:srgbClr val="0000FF"/>
                </a:solidFill>
              </a:rPr>
              <a:t>으로 업데이트 및 다운로드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rgbClr val="0000FF"/>
              </a:solidFill>
            </a:endParaRPr>
          </a:p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000" dirty="0" err="1" smtClean="0">
                <a:solidFill>
                  <a:srgbClr val="0000FF"/>
                </a:solidFill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</a:rPr>
              <a:t> push origin main </a:t>
            </a:r>
            <a:r>
              <a:rPr lang="ko-KR" altLang="en-US" sz="1000" dirty="0" smtClean="0">
                <a:solidFill>
                  <a:srgbClr val="0000FF"/>
                </a:solidFill>
              </a:rPr>
              <a:t>으로 로컬 내용을 원격으로 업데이트 하는데 오류가 발생하는 이유</a:t>
            </a:r>
            <a:endParaRPr lang="en-US" altLang="ko-KR" sz="1000" dirty="0" smtClean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 smtClean="0">
                <a:solidFill>
                  <a:srgbClr val="0000FF"/>
                </a:solidFill>
              </a:rPr>
              <a:t>      error</a:t>
            </a:r>
            <a:r>
              <a:rPr lang="en-US" altLang="ko-KR" sz="1000" dirty="0">
                <a:solidFill>
                  <a:srgbClr val="0000FF"/>
                </a:solidFill>
              </a:rPr>
              <a:t>: failed to push some refs to 'https://</a:t>
            </a:r>
            <a:r>
              <a:rPr lang="en-US" altLang="ko-KR" sz="1000" dirty="0" smtClean="0">
                <a:solidFill>
                  <a:srgbClr val="0000FF"/>
                </a:solidFill>
              </a:rPr>
              <a:t>github.com/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younhosun</a:t>
            </a:r>
            <a:r>
              <a:rPr lang="en-US" altLang="ko-KR" sz="1000" dirty="0" smtClean="0">
                <a:solidFill>
                  <a:srgbClr val="0000FF"/>
                </a:solidFill>
              </a:rPr>
              <a:t>/</a:t>
            </a:r>
            <a:r>
              <a:rPr lang="en-US" altLang="ko-KR" sz="1000" dirty="0" err="1" smtClean="0">
                <a:solidFill>
                  <a:srgbClr val="0000FF"/>
                </a:solidFill>
              </a:rPr>
              <a:t>hsyoun_git.git</a:t>
            </a:r>
            <a:r>
              <a:rPr lang="en-US" altLang="ko-KR" sz="1000" dirty="0" smtClean="0">
                <a:solidFill>
                  <a:srgbClr val="0000FF"/>
                </a:solidFill>
              </a:rPr>
              <a:t>‘</a:t>
            </a: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</a:rPr>
              <a:t>     </a:t>
            </a:r>
            <a:r>
              <a:rPr lang="en-US" altLang="ko-KR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원격 지점과 로컬 영역 간의 정보가 불일치로 인한 오류</a:t>
            </a:r>
            <a:endParaRPr lang="en-US" altLang="ko-KR" sz="1000" dirty="0" smtClean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  <a:sym typeface="Wingdings" panose="05000000000000000000" pitchFamily="2" charset="2"/>
              </a:rPr>
              <a:t>       </a:t>
            </a:r>
            <a:r>
              <a:rPr lang="en-US" altLang="ko-KR" sz="1000" dirty="0" err="1">
                <a:solidFill>
                  <a:srgbClr val="0000FF"/>
                </a:solidFill>
                <a:sym typeface="Wingdings" panose="05000000000000000000" pitchFamily="2" charset="2"/>
              </a:rPr>
              <a:t>git</a:t>
            </a:r>
            <a:r>
              <a:rPr lang="en-US" altLang="ko-KR" sz="1000" dirty="0">
                <a:solidFill>
                  <a:srgbClr val="0000FF"/>
                </a:solidFill>
                <a:sym typeface="Wingdings" panose="05000000000000000000" pitchFamily="2" charset="2"/>
              </a:rPr>
              <a:t> pull origin </a:t>
            </a:r>
            <a:r>
              <a:rPr lang="en-US" altLang="ko-KR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main  </a:t>
            </a:r>
            <a:r>
              <a:rPr lang="ko-KR" altLang="en-US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로컬과 원격지와의 정보 </a:t>
            </a:r>
            <a:r>
              <a:rPr lang="ko-KR" altLang="en-US" sz="1000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일치화</a:t>
            </a:r>
            <a:r>
              <a:rPr lang="ko-KR" altLang="en-US" sz="1000" dirty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우선 수행</a:t>
            </a:r>
            <a:endParaRPr lang="en-US" altLang="ko-KR" sz="1000" dirty="0" smtClean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      </a:t>
            </a:r>
            <a:r>
              <a:rPr lang="ko-KR" altLang="en-US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다시 </a:t>
            </a:r>
            <a:r>
              <a:rPr lang="en-US" altLang="ko-KR" sz="1000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git</a:t>
            </a:r>
            <a:r>
              <a:rPr lang="en-US" altLang="ko-KR" sz="1000" dirty="0" smtClean="0">
                <a:solidFill>
                  <a:srgbClr val="0000FF"/>
                </a:solidFill>
                <a:sym typeface="Wingdings" panose="05000000000000000000" pitchFamily="2" charset="2"/>
              </a:rPr>
              <a:t> push origin main  </a:t>
            </a:r>
            <a:r>
              <a:rPr lang="ko-KR" altLang="en-US" sz="1000" smtClean="0">
                <a:solidFill>
                  <a:srgbClr val="0000FF"/>
                </a:solidFill>
                <a:sym typeface="Wingdings" panose="05000000000000000000" pitchFamily="2" charset="2"/>
              </a:rPr>
              <a:t>정상 업로드 확인</a:t>
            </a:r>
            <a:endParaRPr lang="en-US" altLang="ko-KR" sz="1000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80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  <a:headEnd type="oval"/>
          <a:tailEnd type="triangle"/>
        </a:ln>
      </a:spPr>
      <a:bodyPr rtlCol="0" anchor="ctr"/>
      <a:lstStyle>
        <a:defPPr algn="ctr">
          <a:defRPr sz="10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08000" indent="-108000">
          <a:spcBef>
            <a:spcPts val="300"/>
          </a:spcBef>
          <a:buFont typeface="Arial" panose="020B0604020202020204" pitchFamily="34" charset="0"/>
          <a:buChar char="•"/>
          <a:defRPr sz="1000" dirty="0" err="1" smtClean="0">
            <a:solidFill>
              <a:srgbClr val="0000F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6348</TotalTime>
  <Words>1706</Words>
  <Application>Microsoft Office PowerPoint</Application>
  <PresentationFormat>와이드스크린</PresentationFormat>
  <Paragraphs>296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lang</dc:creator>
  <cp:lastModifiedBy>lang</cp:lastModifiedBy>
  <cp:revision>463</cp:revision>
  <dcterms:created xsi:type="dcterms:W3CDTF">2024-03-27T20:01:07Z</dcterms:created>
  <dcterms:modified xsi:type="dcterms:W3CDTF">2025-11-18T20:27:42Z</dcterms:modified>
</cp:coreProperties>
</file>